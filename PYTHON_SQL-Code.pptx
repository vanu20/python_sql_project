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2" r:id="rId1"/>
  </p:sldMasterIdLst>
  <p:notesMasterIdLst>
    <p:notesMasterId r:id="rId18"/>
  </p:notesMasterIdLst>
  <p:sldIdLst>
    <p:sldId id="27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004" autoAdjust="0"/>
  </p:normalViewPr>
  <p:slideViewPr>
    <p:cSldViewPr snapToGrid="0">
      <p:cViewPr varScale="1">
        <p:scale>
          <a:sx n="80" d="100"/>
          <a:sy n="80" d="100"/>
        </p:scale>
        <p:origin x="58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BC772F-8485-438D-9AAA-064E301E1006}" type="datetimeFigureOut">
              <a:rPr lang="en-GB" smtClean="0"/>
              <a:t>22/04/2026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8F902-DD74-4692-8552-FEE09B9154FA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F8F902-DD74-4692-8552-FEE09B9154FA}" type="slidenum">
              <a:rPr lang="en-GB" smtClean="0"/>
              <a:t>15</a:t>
            </a:fld>
            <a:endParaRPr lang="en-GB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866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94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29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82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458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640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75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699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8620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74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3001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319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02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55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D2C01-E627-FD93-4FAE-DE35F4DE02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0583" y="244197"/>
            <a:ext cx="9950825" cy="708211"/>
          </a:xfrm>
        </p:spPr>
        <p:txBody>
          <a:bodyPr>
            <a:normAutofit/>
          </a:bodyPr>
          <a:lstStyle/>
          <a:p>
            <a:r>
              <a:rPr lang="en-US" sz="4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Navigating the Future of Online Shopping</a:t>
            </a:r>
            <a:endParaRPr lang="en-IN" sz="44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53A5F5-3614-22B4-AA21-EE97354E1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5" y="1199496"/>
            <a:ext cx="9144000" cy="566550"/>
          </a:xfrm>
        </p:spPr>
        <p:txBody>
          <a:bodyPr>
            <a:normAutofit/>
          </a:bodyPr>
          <a:lstStyle/>
          <a:p>
            <a:r>
              <a:rPr lang="it-IT" sz="2800" b="1" i="1" u="sng" dirty="0">
                <a:solidFill>
                  <a:schemeClr val="accent6"/>
                </a:solidFill>
              </a:rPr>
              <a:t>SQL vs Python — E-Commerce Dataset Analysis</a:t>
            </a:r>
            <a:endParaRPr lang="en-IN" sz="2800" b="1" i="1" u="sng" dirty="0">
              <a:solidFill>
                <a:schemeClr val="accent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68D3A2-F691-2318-A77D-3D1A8B056F5A}"/>
              </a:ext>
            </a:extLst>
          </p:cNvPr>
          <p:cNvSpPr txBox="1"/>
          <p:nvPr/>
        </p:nvSpPr>
        <p:spPr>
          <a:xfrm>
            <a:off x="354103" y="2013134"/>
            <a:ext cx="114837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presentation explores a comprehensive E-Commerce dataset containing over 100,000 orders across 7 interconnected tables — Customers, Orders, Payments, Products, Order Items, Sellers and Geolocation.</a:t>
            </a:r>
          </a:p>
          <a:p>
            <a:endParaRPr lang="en-US" dirty="0"/>
          </a:p>
          <a:p>
            <a:r>
              <a:rPr lang="en-US" dirty="0"/>
              <a:t>The analysis is performed using two powerful approaches: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SQL (MySQL) — for structured database querying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(Pandas &amp; Matplotlib) — for data manipulation and visualization</a:t>
            </a:r>
          </a:p>
          <a:p>
            <a:endParaRPr lang="en-US" dirty="0"/>
          </a:p>
          <a:p>
            <a:r>
              <a:rPr lang="en-US" dirty="0"/>
              <a:t>The goal is to extract meaningful business insights across 3 levels of complexity: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Level 1 — Basic Problems     : Fundamental insights from the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Level 2 — Intermediate Problems : Deeper sales and order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Level 3 — Advanced Problems  : Strategic and customer-centric insights</a:t>
            </a:r>
          </a:p>
          <a:p>
            <a:endParaRPr lang="en-US" dirty="0"/>
          </a:p>
          <a:p>
            <a:r>
              <a:rPr lang="en-US" dirty="0"/>
              <a:t>A total of 15 questions are solved and compared side-by-side to validate that both SQL and Python produce matching results.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477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9367" y="86137"/>
            <a:ext cx="9404985" cy="743585"/>
          </a:xfrm>
        </p:spPr>
        <p:txBody>
          <a:bodyPr>
            <a:normAutofit/>
          </a:bodyPr>
          <a:lstStyle/>
          <a:p>
            <a:pPr marL="0" indent="0" algn="ctr"/>
            <a:r>
              <a:rPr lang="en-GB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PROBLEMS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550" y="1899284"/>
            <a:ext cx="5532755" cy="2364739"/>
          </a:xfrm>
          <a:prstGeom prst="rect">
            <a:avLst/>
          </a:prstGeom>
          <a:ln w="12700" cmpd="sng">
            <a:solidFill>
              <a:schemeClr val="tx1"/>
            </a:solidFill>
            <a:prstDash val="solid"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4392071"/>
            <a:ext cx="5533390" cy="2143349"/>
          </a:xfrm>
          <a:prstGeom prst="rect">
            <a:avLst/>
          </a:prstGeom>
          <a:ln w="12700" cmpd="sng">
            <a:solidFill>
              <a:schemeClr val="tx1"/>
            </a:solidFill>
            <a:prstDash val="solid"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05" y="1899285"/>
            <a:ext cx="5596255" cy="236474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04" y="4392705"/>
            <a:ext cx="5596255" cy="2143349"/>
          </a:xfrm>
          <a:prstGeom prst="rect">
            <a:avLst/>
          </a:prstGeom>
        </p:spPr>
      </p:pic>
      <p:sp>
        <p:nvSpPr>
          <p:cNvPr id="16" name="Text Box 15"/>
          <p:cNvSpPr txBox="1"/>
          <p:nvPr/>
        </p:nvSpPr>
        <p:spPr>
          <a:xfrm>
            <a:off x="992378" y="1566425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009765" y="1562748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6AEA5-C2D4-9A3B-FA8B-DBECAD314105}"/>
              </a:ext>
            </a:extLst>
          </p:cNvPr>
          <p:cNvSpPr txBox="1"/>
          <p:nvPr/>
        </p:nvSpPr>
        <p:spPr>
          <a:xfrm>
            <a:off x="489977" y="1077277"/>
            <a:ext cx="76547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List all unique cities where customers are located</a:t>
            </a:r>
            <a:endParaRPr lang="en-I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F623B1-4D46-AAA1-74F4-87DD846EB20F}"/>
              </a:ext>
            </a:extLst>
          </p:cNvPr>
          <p:cNvSpPr txBox="1"/>
          <p:nvPr/>
        </p:nvSpPr>
        <p:spPr>
          <a:xfrm>
            <a:off x="395604" y="776474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01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pic>
        <p:nvPicPr>
          <p:cNvPr id="15" name="Picture Placeholder 6" descr="SQL_Logo1">
            <a:extLst>
              <a:ext uri="{FF2B5EF4-FFF2-40B4-BE49-F238E27FC236}">
                <a16:creationId xmlns:a16="http://schemas.microsoft.com/office/drawing/2014/main" id="{6747D7CC-1511-A6D8-8C8D-DE0FAF1672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094" y="1588809"/>
            <a:ext cx="210671" cy="260608"/>
          </a:xfrm>
          <a:prstGeom prst="rect">
            <a:avLst/>
          </a:prstGeom>
        </p:spPr>
      </p:pic>
      <p:pic>
        <p:nvPicPr>
          <p:cNvPr id="22" name="Picture Placeholder 5" descr="python_logo">
            <a:extLst>
              <a:ext uri="{FF2B5EF4-FFF2-40B4-BE49-F238E27FC236}">
                <a16:creationId xmlns:a16="http://schemas.microsoft.com/office/drawing/2014/main" id="{BFFCCFDD-90B0-0C6B-1C0D-F5BB90676F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15061" y="1580614"/>
            <a:ext cx="276999" cy="276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32" y="1792249"/>
            <a:ext cx="5702338" cy="25459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31" y="4490607"/>
            <a:ext cx="5702338" cy="177284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9412" y="1792249"/>
            <a:ext cx="5236171" cy="25459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9412" y="4490608"/>
            <a:ext cx="5236171" cy="17728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88114815-D46F-383E-49E9-4A9CBFEA80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863628" y="14390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F526713D-68E9-BF99-B56F-26A65AE6F9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837" y="1439050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97FB24BA-FB8D-8BA0-3949-0C8BC897D29D}"/>
              </a:ext>
            </a:extLst>
          </p:cNvPr>
          <p:cNvSpPr txBox="1"/>
          <p:nvPr/>
        </p:nvSpPr>
        <p:spPr>
          <a:xfrm>
            <a:off x="1183220" y="1414026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037AA812-B14A-BC7A-5069-D2AE5C8C7B2D}"/>
              </a:ext>
            </a:extLst>
          </p:cNvPr>
          <p:cNvSpPr txBox="1"/>
          <p:nvPr/>
        </p:nvSpPr>
        <p:spPr>
          <a:xfrm>
            <a:off x="7153631" y="1411297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52F865-DCC2-B789-1ABC-F5FA8E774825}"/>
              </a:ext>
            </a:extLst>
          </p:cNvPr>
          <p:cNvSpPr txBox="1"/>
          <p:nvPr/>
        </p:nvSpPr>
        <p:spPr>
          <a:xfrm>
            <a:off x="470040" y="482652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02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DBED2C-7D85-9BFB-F389-7605BAB7CC69}"/>
              </a:ext>
            </a:extLst>
          </p:cNvPr>
          <p:cNvSpPr txBox="1"/>
          <p:nvPr/>
        </p:nvSpPr>
        <p:spPr>
          <a:xfrm>
            <a:off x="590884" y="817555"/>
            <a:ext cx="80839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 the number of orders placed in 2017</a:t>
            </a:r>
            <a:endParaRPr lang="en-IN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479177"/>
            <a:ext cx="5654040" cy="249218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4132729"/>
            <a:ext cx="5654040" cy="239357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0011" y="4132728"/>
            <a:ext cx="5215890" cy="23935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0011" y="1479177"/>
            <a:ext cx="5215890" cy="24921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10925D-AD1C-8A53-6619-AA0D692E01E8}"/>
              </a:ext>
            </a:extLst>
          </p:cNvPr>
          <p:cNvSpPr txBox="1"/>
          <p:nvPr/>
        </p:nvSpPr>
        <p:spPr>
          <a:xfrm>
            <a:off x="555812" y="585106"/>
            <a:ext cx="56119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Find the total sales per category</a:t>
            </a:r>
            <a:endParaRPr lang="en-I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0D52B1-52C0-CB42-9A70-D3843C8DB277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03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pic>
        <p:nvPicPr>
          <p:cNvPr id="12" name="Picture Placeholder 5" descr="python_logo">
            <a:extLst>
              <a:ext uri="{FF2B5EF4-FFF2-40B4-BE49-F238E27FC236}">
                <a16:creationId xmlns:a16="http://schemas.microsoft.com/office/drawing/2014/main" id="{13DB09EC-EC76-83B5-74D4-3180D60FFF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838183" y="1121495"/>
            <a:ext cx="276999" cy="276999"/>
          </a:xfrm>
          <a:prstGeom prst="rect">
            <a:avLst/>
          </a:prstGeom>
        </p:spPr>
      </p:pic>
      <p:pic>
        <p:nvPicPr>
          <p:cNvPr id="13" name="Picture Placeholder 6" descr="SQL_Logo1">
            <a:extLst>
              <a:ext uri="{FF2B5EF4-FFF2-40B4-BE49-F238E27FC236}">
                <a16:creationId xmlns:a16="http://schemas.microsoft.com/office/drawing/2014/main" id="{6E221D71-4BA8-D95B-A70B-5A397D3847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137888"/>
            <a:ext cx="210671" cy="260608"/>
          </a:xfrm>
          <a:prstGeom prst="rect">
            <a:avLst/>
          </a:prstGeom>
        </p:spPr>
      </p:pic>
      <p:sp>
        <p:nvSpPr>
          <p:cNvPr id="14" name="Text Box 15">
            <a:extLst>
              <a:ext uri="{FF2B5EF4-FFF2-40B4-BE49-F238E27FC236}">
                <a16:creationId xmlns:a16="http://schemas.microsoft.com/office/drawing/2014/main" id="{C1F0B850-19D7-6919-F497-7F6BB8F685AF}"/>
              </a:ext>
            </a:extLst>
          </p:cNvPr>
          <p:cNvSpPr txBox="1"/>
          <p:nvPr/>
        </p:nvSpPr>
        <p:spPr>
          <a:xfrm>
            <a:off x="1115182" y="1121496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5" name="Text Box 16">
            <a:extLst>
              <a:ext uri="{FF2B5EF4-FFF2-40B4-BE49-F238E27FC236}">
                <a16:creationId xmlns:a16="http://schemas.microsoft.com/office/drawing/2014/main" id="{8C9D6BA8-7368-5CC4-7562-A99972DB2927}"/>
              </a:ext>
            </a:extLst>
          </p:cNvPr>
          <p:cNvSpPr txBox="1"/>
          <p:nvPr/>
        </p:nvSpPr>
        <p:spPr>
          <a:xfrm>
            <a:off x="7127876" y="112149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56" y="1881710"/>
            <a:ext cx="5662444" cy="258183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56" y="4652682"/>
            <a:ext cx="5662444" cy="163265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119" y="1881710"/>
            <a:ext cx="5438326" cy="25818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119" y="4652682"/>
            <a:ext cx="5438326" cy="16326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252A6A84-50C9-0581-5C31-4A34AE97A9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838183" y="1525626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C764113F-9490-EADE-724B-88E5F2C927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8240" y="1542017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95B02E00-BE0B-2893-A404-BB68BEF45131}"/>
              </a:ext>
            </a:extLst>
          </p:cNvPr>
          <p:cNvSpPr txBox="1"/>
          <p:nvPr/>
        </p:nvSpPr>
        <p:spPr>
          <a:xfrm>
            <a:off x="1115182" y="1525626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7B7DC4CD-566D-5F49-26EB-59747A63F461}"/>
              </a:ext>
            </a:extLst>
          </p:cNvPr>
          <p:cNvSpPr txBox="1"/>
          <p:nvPr/>
        </p:nvSpPr>
        <p:spPr>
          <a:xfrm>
            <a:off x="7199594" y="1525625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A79B5C-0D04-6A01-752C-D6837652E2D3}"/>
              </a:ext>
            </a:extLst>
          </p:cNvPr>
          <p:cNvSpPr txBox="1"/>
          <p:nvPr/>
        </p:nvSpPr>
        <p:spPr>
          <a:xfrm>
            <a:off x="433556" y="480406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04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C8A226-B1F2-4CC9-4DBB-84A38B4DAB09}"/>
              </a:ext>
            </a:extLst>
          </p:cNvPr>
          <p:cNvSpPr txBox="1"/>
          <p:nvPr/>
        </p:nvSpPr>
        <p:spPr>
          <a:xfrm>
            <a:off x="546847" y="867268"/>
            <a:ext cx="89288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percentage of orders that were paid in installments</a:t>
            </a:r>
            <a:endParaRPr lang="en-I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70" y="1337441"/>
            <a:ext cx="5612130" cy="261556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 r="3642"/>
          <a:stretch>
            <a:fillRect/>
          </a:stretch>
        </p:blipFill>
        <p:spPr>
          <a:xfrm>
            <a:off x="483870" y="4078941"/>
            <a:ext cx="5612130" cy="249902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999" y="1333343"/>
            <a:ext cx="5315446" cy="2615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999" y="4078941"/>
            <a:ext cx="5316081" cy="2499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8665C906-FDCA-D393-B8AE-78A1299981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E43E3C77-77FF-AB86-5D73-C0C7C22099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3F758705-4DD6-55C1-E760-B2F1034D11A8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D24DA30D-F675-CAC7-8607-30DB189E95C2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DFB25-30F4-5F50-9CA7-E52C34C34920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05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5788FF-BE48-E984-8037-810074C3106D}"/>
              </a:ext>
            </a:extLst>
          </p:cNvPr>
          <p:cNvSpPr txBox="1"/>
          <p:nvPr/>
        </p:nvSpPr>
        <p:spPr>
          <a:xfrm>
            <a:off x="627528" y="508491"/>
            <a:ext cx="6795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 the number of customers from each state</a:t>
            </a:r>
            <a:endParaRPr lang="en-IN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300928" y="123323"/>
            <a:ext cx="9404723" cy="7664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GB" sz="4000" b="1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INTERMEDIATE PROBLEMS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1839747"/>
            <a:ext cx="5566410" cy="24124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0" y="4439620"/>
            <a:ext cx="5566410" cy="215548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153" y="1839747"/>
            <a:ext cx="5443967" cy="24124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153" y="4439616"/>
            <a:ext cx="5443967" cy="21554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 Box 15">
            <a:extLst>
              <a:ext uri="{FF2B5EF4-FFF2-40B4-BE49-F238E27FC236}">
                <a16:creationId xmlns:a16="http://schemas.microsoft.com/office/drawing/2014/main" id="{E7A4CD26-56A4-BAD4-761A-624E5CBE5697}"/>
              </a:ext>
            </a:extLst>
          </p:cNvPr>
          <p:cNvSpPr txBox="1"/>
          <p:nvPr/>
        </p:nvSpPr>
        <p:spPr>
          <a:xfrm>
            <a:off x="998005" y="1539985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8" name="Text Box 16">
            <a:extLst>
              <a:ext uri="{FF2B5EF4-FFF2-40B4-BE49-F238E27FC236}">
                <a16:creationId xmlns:a16="http://schemas.microsoft.com/office/drawing/2014/main" id="{22DF8BE7-D0D7-284A-D4F8-8AF0CAEDD267}"/>
              </a:ext>
            </a:extLst>
          </p:cNvPr>
          <p:cNvSpPr txBox="1"/>
          <p:nvPr/>
        </p:nvSpPr>
        <p:spPr>
          <a:xfrm>
            <a:off x="7009765" y="1522552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749F5F-EF72-B8FB-9ABE-47264B1B0137}"/>
              </a:ext>
            </a:extLst>
          </p:cNvPr>
          <p:cNvSpPr txBox="1"/>
          <p:nvPr/>
        </p:nvSpPr>
        <p:spPr>
          <a:xfrm>
            <a:off x="516872" y="1077278"/>
            <a:ext cx="76547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number of orders per month in 2018</a:t>
            </a:r>
            <a:endParaRPr lang="en-IN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89E9ED-753E-6055-29D5-3296A456651F}"/>
              </a:ext>
            </a:extLst>
          </p:cNvPr>
          <p:cNvSpPr txBox="1"/>
          <p:nvPr/>
        </p:nvSpPr>
        <p:spPr>
          <a:xfrm>
            <a:off x="395604" y="776474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01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pic>
        <p:nvPicPr>
          <p:cNvPr id="12" name="Picture Placeholder 6" descr="SQL_Logo1">
            <a:extLst>
              <a:ext uri="{FF2B5EF4-FFF2-40B4-BE49-F238E27FC236}">
                <a16:creationId xmlns:a16="http://schemas.microsoft.com/office/drawing/2014/main" id="{EAA5B2A2-0F82-6165-505B-FC9BBED00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094" y="1538943"/>
            <a:ext cx="210671" cy="260608"/>
          </a:xfrm>
          <a:prstGeom prst="rect">
            <a:avLst/>
          </a:prstGeom>
        </p:spPr>
      </p:pic>
      <p:pic>
        <p:nvPicPr>
          <p:cNvPr id="13" name="Picture Placeholder 5" descr="python_logo">
            <a:extLst>
              <a:ext uri="{FF2B5EF4-FFF2-40B4-BE49-F238E27FC236}">
                <a16:creationId xmlns:a16="http://schemas.microsoft.com/office/drawing/2014/main" id="{9F21AA56-B744-6795-5E64-F8F0E4FD96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48543" y="1538943"/>
            <a:ext cx="276999" cy="27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1323957"/>
            <a:ext cx="5483225" cy="26981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45" y="4195482"/>
            <a:ext cx="5483860" cy="228913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445" y="1323957"/>
            <a:ext cx="5654675" cy="26981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445" y="4195482"/>
            <a:ext cx="5645152" cy="22891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55CADFBF-3987-41EE-A046-8A31169E35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38870035-877D-4F7B-A183-FFF3AC98C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50E253B1-A092-091D-E6EB-BEC00BE42E74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C90166B5-3DC8-B847-FDDF-F15FD68C8D33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D6F912-C5B1-1181-3D82-76477A1258AC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02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8D7F9-3B48-51CC-6858-B2CD62083762}"/>
              </a:ext>
            </a:extLst>
          </p:cNvPr>
          <p:cNvSpPr txBox="1"/>
          <p:nvPr/>
        </p:nvSpPr>
        <p:spPr>
          <a:xfrm>
            <a:off x="627527" y="508491"/>
            <a:ext cx="97446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Find the average number of products per order, grouped by customer city</a:t>
            </a:r>
            <a:endParaRPr lang="en-IN" sz="4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95" y="1323957"/>
            <a:ext cx="5787876" cy="27460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95" y="4213412"/>
            <a:ext cx="5787876" cy="23666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543" y="4213412"/>
            <a:ext cx="5365862" cy="23666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rcRect t="2922"/>
          <a:stretch>
            <a:fillRect/>
          </a:stretch>
        </p:blipFill>
        <p:spPr>
          <a:xfrm>
            <a:off x="6383543" y="1323957"/>
            <a:ext cx="5365862" cy="27460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4A592BA8-4380-DCFB-7E83-CF2E53AA69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ACF2E02D-0F26-EF2A-DF70-02E707825F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14BC0624-B698-ED08-4704-0C336E40002B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CDB9CF01-54E8-C454-1F58-9860D5CCC3D5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F1FE25-32D7-7730-4486-4A5AA4003614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03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7F0DC8-2485-D4D2-5CC2-CA231FE1DC37}"/>
              </a:ext>
            </a:extLst>
          </p:cNvPr>
          <p:cNvSpPr txBox="1"/>
          <p:nvPr/>
        </p:nvSpPr>
        <p:spPr>
          <a:xfrm>
            <a:off x="627527" y="508491"/>
            <a:ext cx="1045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percentage of total revenue contributed by each product category</a:t>
            </a:r>
            <a:endParaRPr lang="en-IN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668" y="4267200"/>
            <a:ext cx="5734050" cy="23139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t="3485"/>
          <a:stretch>
            <a:fillRect/>
          </a:stretch>
        </p:blipFill>
        <p:spPr>
          <a:xfrm>
            <a:off x="6381152" y="1323957"/>
            <a:ext cx="5377180" cy="2803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152" y="4267200"/>
            <a:ext cx="5377180" cy="23139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668" y="1323957"/>
            <a:ext cx="5734050" cy="2803525"/>
          </a:xfrm>
          <a:prstGeom prst="rect">
            <a:avLst/>
          </a:prstGeom>
        </p:spPr>
      </p:pic>
      <p:pic>
        <p:nvPicPr>
          <p:cNvPr id="12" name="Picture Placeholder 5" descr="python_logo">
            <a:extLst>
              <a:ext uri="{FF2B5EF4-FFF2-40B4-BE49-F238E27FC236}">
                <a16:creationId xmlns:a16="http://schemas.microsoft.com/office/drawing/2014/main" id="{69459BEC-80EA-263E-1D3C-A7F7A3144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3" name="Picture Placeholder 6" descr="SQL_Logo1">
            <a:extLst>
              <a:ext uri="{FF2B5EF4-FFF2-40B4-BE49-F238E27FC236}">
                <a16:creationId xmlns:a16="http://schemas.microsoft.com/office/drawing/2014/main" id="{4D43F5D9-64B9-603A-AF9C-C3B7A7BADB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4" name="Text Box 15">
            <a:extLst>
              <a:ext uri="{FF2B5EF4-FFF2-40B4-BE49-F238E27FC236}">
                <a16:creationId xmlns:a16="http://schemas.microsoft.com/office/drawing/2014/main" id="{BC805A97-417C-B827-619D-92B99C4C74A9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5" name="Text Box 16">
            <a:extLst>
              <a:ext uri="{FF2B5EF4-FFF2-40B4-BE49-F238E27FC236}">
                <a16:creationId xmlns:a16="http://schemas.microsoft.com/office/drawing/2014/main" id="{FB22215F-85F8-DD86-1EF9-69DE9A6C732A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789E07-3293-BCE8-E7A7-386A65348AC4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04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EBF8F4-9EF6-2BB8-1204-EE38A8A60F17}"/>
              </a:ext>
            </a:extLst>
          </p:cNvPr>
          <p:cNvSpPr txBox="1"/>
          <p:nvPr/>
        </p:nvSpPr>
        <p:spPr>
          <a:xfrm>
            <a:off x="636493" y="535085"/>
            <a:ext cx="1128656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Identify the correlation between product price and the number of times a product has been purchased</a:t>
            </a:r>
            <a:endParaRPr lang="en-IN" sz="2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43" y="1316467"/>
            <a:ext cx="5797550" cy="272796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43" y="4177553"/>
            <a:ext cx="5798185" cy="238461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27" y="1316468"/>
            <a:ext cx="5281930" cy="27279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0592" y="4156125"/>
            <a:ext cx="5282565" cy="24060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C08F2EDF-024F-C492-2422-80D8CB10A4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0A6D083D-21E0-BB90-9516-9E02E9F59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FED5FDB1-A781-5F13-F245-708478FA1EC4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C3ECC047-9E9A-0BDA-D823-D65943BBEDC4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A69293-B4AF-5F4A-070E-637B25E6F900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05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0BB14-8362-F444-B573-0C3D2AFF8B11}"/>
              </a:ext>
            </a:extLst>
          </p:cNvPr>
          <p:cNvSpPr txBox="1"/>
          <p:nvPr/>
        </p:nvSpPr>
        <p:spPr>
          <a:xfrm>
            <a:off x="627527" y="508491"/>
            <a:ext cx="112058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total revenue generated by each seller, and rank them by revenue</a:t>
            </a:r>
            <a:endParaRPr lang="en-IN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393636" y="48114"/>
            <a:ext cx="9404723" cy="7664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GB" sz="4000" b="1" u="sng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ADVANCED PROBLEMS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53" y="1889613"/>
            <a:ext cx="5668645" cy="246723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54" y="4455458"/>
            <a:ext cx="5668645" cy="214913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301" y="1889613"/>
            <a:ext cx="5427346" cy="2467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7301" y="4455457"/>
            <a:ext cx="5427346" cy="21491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 Box 15">
            <a:extLst>
              <a:ext uri="{FF2B5EF4-FFF2-40B4-BE49-F238E27FC236}">
                <a16:creationId xmlns:a16="http://schemas.microsoft.com/office/drawing/2014/main" id="{8C3FB467-57F7-B380-0E58-6FE270A2C413}"/>
              </a:ext>
            </a:extLst>
          </p:cNvPr>
          <p:cNvSpPr txBox="1"/>
          <p:nvPr/>
        </p:nvSpPr>
        <p:spPr>
          <a:xfrm>
            <a:off x="992378" y="1566425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9" name="Text Box 16">
            <a:extLst>
              <a:ext uri="{FF2B5EF4-FFF2-40B4-BE49-F238E27FC236}">
                <a16:creationId xmlns:a16="http://schemas.microsoft.com/office/drawing/2014/main" id="{7F493064-4EF1-7900-2D48-FCBC074FAB9C}"/>
              </a:ext>
            </a:extLst>
          </p:cNvPr>
          <p:cNvSpPr txBox="1"/>
          <p:nvPr/>
        </p:nvSpPr>
        <p:spPr>
          <a:xfrm>
            <a:off x="7009765" y="1562748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F58744-5902-36EE-8867-EA652BF9A5AE}"/>
              </a:ext>
            </a:extLst>
          </p:cNvPr>
          <p:cNvSpPr txBox="1"/>
          <p:nvPr/>
        </p:nvSpPr>
        <p:spPr>
          <a:xfrm>
            <a:off x="489976" y="1077277"/>
            <a:ext cx="11442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moving average of order values for each customer over their order history</a:t>
            </a:r>
            <a:endParaRPr lang="en-IN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B1CF8D-0866-C898-FE51-FC32587D9170}"/>
              </a:ext>
            </a:extLst>
          </p:cNvPr>
          <p:cNvSpPr txBox="1"/>
          <p:nvPr/>
        </p:nvSpPr>
        <p:spPr>
          <a:xfrm>
            <a:off x="395604" y="776474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01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pic>
        <p:nvPicPr>
          <p:cNvPr id="12" name="Picture Placeholder 6" descr="SQL_Logo1">
            <a:extLst>
              <a:ext uri="{FF2B5EF4-FFF2-40B4-BE49-F238E27FC236}">
                <a16:creationId xmlns:a16="http://schemas.microsoft.com/office/drawing/2014/main" id="{749E5F30-52E9-160C-41E9-FDAA518D3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094" y="1588809"/>
            <a:ext cx="210671" cy="260608"/>
          </a:xfrm>
          <a:prstGeom prst="rect">
            <a:avLst/>
          </a:prstGeom>
        </p:spPr>
      </p:pic>
      <p:pic>
        <p:nvPicPr>
          <p:cNvPr id="13" name="Picture Placeholder 5" descr="python_logo">
            <a:extLst>
              <a:ext uri="{FF2B5EF4-FFF2-40B4-BE49-F238E27FC236}">
                <a16:creationId xmlns:a16="http://schemas.microsoft.com/office/drawing/2014/main" id="{94FD1E2B-1A62-58EA-A48E-A7F73B8C64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54803" y="1575778"/>
            <a:ext cx="276999" cy="2769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1323956"/>
            <a:ext cx="5931460" cy="288049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75" y="4312137"/>
            <a:ext cx="5931460" cy="229763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918" y="1314993"/>
            <a:ext cx="5106707" cy="28804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917" y="4312137"/>
            <a:ext cx="5106707" cy="22976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60DD5459-776D-56A4-E9DC-6AA958968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23992A4D-BEA3-A853-A54D-31F462F07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1E9D2D18-8550-CE5D-E6BC-8CF875B63F4A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4401695C-3DA2-7B29-52CE-44282EE0600C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2741F8-1540-7084-7D89-B1AB0C7EA5E6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02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26CA1B-1BE5-5FB6-D3FF-A97F61FB958C}"/>
              </a:ext>
            </a:extLst>
          </p:cNvPr>
          <p:cNvSpPr txBox="1"/>
          <p:nvPr/>
        </p:nvSpPr>
        <p:spPr>
          <a:xfrm>
            <a:off x="627527" y="508491"/>
            <a:ext cx="1045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cumulative sales per month for each year</a:t>
            </a:r>
            <a:endParaRPr lang="en-IN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05" y="1322272"/>
            <a:ext cx="5678394" cy="319039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05" y="4634753"/>
            <a:ext cx="5678394" cy="17943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7013" y="1316951"/>
            <a:ext cx="5427382" cy="31903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7013" y="4634752"/>
            <a:ext cx="5427382" cy="17943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4F265CE5-5772-BC6C-E50D-AC3EB7A995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E8081D49-5490-DA02-9F8B-01E5C2C3C3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B60CBD18-1F18-9A1C-68AB-0E54415D9D38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4259FDE5-3CCD-16A9-5224-0F18D82E489C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C3B964-CBA7-99D1-F657-095B54525075}"/>
              </a:ext>
            </a:extLst>
          </p:cNvPr>
          <p:cNvSpPr txBox="1"/>
          <p:nvPr/>
        </p:nvSpPr>
        <p:spPr>
          <a:xfrm>
            <a:off x="627527" y="508491"/>
            <a:ext cx="1045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year-over-year growth rate of total sales</a:t>
            </a:r>
            <a:endParaRPr lang="en-IN" sz="8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33E27-53BE-97C1-DAAF-8A0F913484BB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03</a:t>
            </a:r>
            <a:endParaRPr lang="en-IN" sz="1400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38" y="1524153"/>
            <a:ext cx="5824556" cy="347695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38" y="5119333"/>
            <a:ext cx="5824556" cy="14058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740" y="1524154"/>
            <a:ext cx="5244521" cy="34769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6741" y="5119333"/>
            <a:ext cx="5244521" cy="14058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A2950E90-554E-42D4-211D-12B373D07E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906999" y="1220007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01D722DB-FFF2-9E86-8C27-421F527F21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1242" y="123632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C15341D4-B998-97D0-6FB4-EC8C8235DB5E}"/>
              </a:ext>
            </a:extLst>
          </p:cNvPr>
          <p:cNvSpPr txBox="1"/>
          <p:nvPr/>
        </p:nvSpPr>
        <p:spPr>
          <a:xfrm>
            <a:off x="1183998" y="1196102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2D7A815B-2838-217E-7FA0-DEFDB1D98E7F}"/>
              </a:ext>
            </a:extLst>
          </p:cNvPr>
          <p:cNvSpPr txBox="1"/>
          <p:nvPr/>
        </p:nvSpPr>
        <p:spPr>
          <a:xfrm>
            <a:off x="7081913" y="1217102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AB2B61-2D89-2696-B8E5-A990D987B3A7}"/>
              </a:ext>
            </a:extLst>
          </p:cNvPr>
          <p:cNvSpPr txBox="1"/>
          <p:nvPr/>
        </p:nvSpPr>
        <p:spPr>
          <a:xfrm>
            <a:off x="450738" y="200714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04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FB4DB-3811-3DDE-1A3F-F1BE2345DB4D}"/>
              </a:ext>
            </a:extLst>
          </p:cNvPr>
          <p:cNvSpPr txBox="1"/>
          <p:nvPr/>
        </p:nvSpPr>
        <p:spPr>
          <a:xfrm>
            <a:off x="627527" y="508491"/>
            <a:ext cx="11113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Calculate the retention rate of customers, defined as the percentage of customers who make another purchase within 6 months of their first purchase</a:t>
            </a:r>
            <a:endParaRPr lang="en-IN" sz="9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20000"/>
                <a:lumOff val="8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99" y="1323957"/>
            <a:ext cx="5932395" cy="2925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99" y="4392706"/>
            <a:ext cx="5932395" cy="2202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0447" y="1323956"/>
            <a:ext cx="5358653" cy="29250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447" y="4392705"/>
            <a:ext cx="5358653" cy="22024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Placeholder 5" descr="python_logo">
            <a:extLst>
              <a:ext uri="{FF2B5EF4-FFF2-40B4-BE49-F238E27FC236}">
                <a16:creationId xmlns:a16="http://schemas.microsoft.com/office/drawing/2014/main" id="{994F5385-881D-3AFC-5892-B42E9835F0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906999" y="1013250"/>
            <a:ext cx="276999" cy="276999"/>
          </a:xfrm>
          <a:prstGeom prst="rect">
            <a:avLst/>
          </a:prstGeom>
        </p:spPr>
      </p:pic>
      <p:pic>
        <p:nvPicPr>
          <p:cNvPr id="10" name="Picture Placeholder 6" descr="SQL_Logo1">
            <a:extLst>
              <a:ext uri="{FF2B5EF4-FFF2-40B4-BE49-F238E27FC236}">
                <a16:creationId xmlns:a16="http://schemas.microsoft.com/office/drawing/2014/main" id="{FEC402ED-9C5E-E0B7-AF2E-6D7C48E7F3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383" y="1021445"/>
            <a:ext cx="210671" cy="260608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A9D7AD7A-85D7-0BDE-3275-342FA1C1CEE9}"/>
              </a:ext>
            </a:extLst>
          </p:cNvPr>
          <p:cNvSpPr txBox="1"/>
          <p:nvPr/>
        </p:nvSpPr>
        <p:spPr>
          <a:xfrm>
            <a:off x="1183998" y="1008557"/>
            <a:ext cx="1872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Python Code</a:t>
            </a: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7A60C853-D6EB-463A-B174-00A8D923BAD9}"/>
              </a:ext>
            </a:extLst>
          </p:cNvPr>
          <p:cNvSpPr txBox="1"/>
          <p:nvPr/>
        </p:nvSpPr>
        <p:spPr>
          <a:xfrm>
            <a:off x="7120642" y="1005054"/>
            <a:ext cx="1910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SQL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FD863-83DD-CC26-0262-76770752C1D1}"/>
              </a:ext>
            </a:extLst>
          </p:cNvPr>
          <p:cNvSpPr txBox="1"/>
          <p:nvPr/>
        </p:nvSpPr>
        <p:spPr>
          <a:xfrm>
            <a:off x="441960" y="215015"/>
            <a:ext cx="1649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Question 05</a:t>
            </a:r>
            <a:endParaRPr lang="en-IN" sz="1400" b="1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53F08-F303-9919-D320-D1985AD725AA}"/>
              </a:ext>
            </a:extLst>
          </p:cNvPr>
          <p:cNvSpPr txBox="1"/>
          <p:nvPr/>
        </p:nvSpPr>
        <p:spPr>
          <a:xfrm>
            <a:off x="627527" y="508491"/>
            <a:ext cx="1045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Identify the top 3 customers who spent the most money in each year</a:t>
            </a:r>
            <a:endParaRPr lang="en-IN" sz="8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173</TotalTime>
  <Words>409</Words>
  <Application>Microsoft Office PowerPoint</Application>
  <PresentationFormat>Widescreen</PresentationFormat>
  <Paragraphs>78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Navigating the Future of Online Shopping</vt:lpstr>
      <vt:lpstr>BASIC PROBLEMS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KALYANI MALOTH</cp:lastModifiedBy>
  <cp:revision>263</cp:revision>
  <dcterms:created xsi:type="dcterms:W3CDTF">2026-03-07T13:04:00Z</dcterms:created>
  <dcterms:modified xsi:type="dcterms:W3CDTF">2026-04-22T06:26:04Z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1033-12.2.0.21183</vt:lpwstr>
  </property>
  <property fmtid="{D5CDD505-2E9C-101B-9397-08002B2CF9AE}" pid="3" name="ICV">
    <vt:lpwstr>A9038BDD508642B0946E1EDCA3F2CBB2_12</vt:lpwstr>
  </property>
</Properties>
</file>