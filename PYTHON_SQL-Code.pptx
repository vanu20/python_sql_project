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74" r:id="rId5"/>
    <p:sldId id="260" r:id="rId6"/>
    <p:sldId id="261" r:id="rId7"/>
    <p:sldId id="275" r:id="rId8"/>
    <p:sldId id="262" r:id="rId9"/>
    <p:sldId id="27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004" autoAdjust="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C772F-8485-438D-9AAA-064E301E1006}" type="datetimeFigureOut">
              <a:rPr lang="en-GB" smtClean="0"/>
              <a:t>11/03/2026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8F902-DD74-4692-8552-FEE09B9154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8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F8F902-DD74-4692-8552-FEE09B9154FA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0955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1" y="244895"/>
            <a:ext cx="9404723" cy="766482"/>
          </a:xfrm>
        </p:spPr>
        <p:txBody>
          <a:bodyPr/>
          <a:lstStyle/>
          <a:p>
            <a:pPr marL="0" indent="0" algn="ctr"/>
            <a:r>
              <a:rPr lang="en-GB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PROBLEMS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330" y="1219199"/>
            <a:ext cx="9730943" cy="53478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6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GB" sz="2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2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</a:t>
            </a: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 insights from the dataset</a:t>
            </a:r>
            <a:r>
              <a:rPr lang="en-GB" sz="2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List all unique cities where customers are located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 customer_city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FROM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500" y="3479484"/>
            <a:ext cx="7154273" cy="286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8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66" y="1191491"/>
            <a:ext cx="10520652" cy="489065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 : Count the number of orders placed in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2017.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COUNT(order_id) AS total_orders_2017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FROM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WHERE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 BETWEEN '2017-01-01 00:00:00' AND '2017-12-31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23:59:59';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</a:t>
            </a:r>
          </a:p>
          <a:p>
            <a:pPr marL="0" indent="0">
              <a:buNone/>
            </a:pP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858" y="3828934"/>
            <a:ext cx="5906324" cy="186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1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946" y="734291"/>
            <a:ext cx="9656618" cy="5943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: Find the total sales per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category.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p.product_category, sum(oi.price) AS total_sales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FROM order_items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oi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JOIN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p ON oi.product_id = p.product_id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GROUP BY p.product_category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ORDER BY total_sales DESC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458" y="3603763"/>
            <a:ext cx="7500975" cy="283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0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8036"/>
            <a:ext cx="11125200" cy="5888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Aggregate data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sales_per_cat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pd.merge(order_items, products, on='product_id')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cat_sales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sales_per_cat.groupby('product category')['price'].sum().sort_values(ascending=False).head(10)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Create Bar Chart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plt.figure(figsize=(12, 6))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cat_sales.plot(kind='bar', color='#3498db')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plt.title('Top 10 Product Categories by Total Sales', fontsize=14)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plt.ylabel('Total Sales ($)', fontsize=12)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plt.xlabel('Product Category', fontsize=12)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plt.xticks(rotation=45, ha='right')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plt.grid(axis='y', linestyle='--', alpha=0.7)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plt.tight_layout() 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plt.show()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255" y="3006437"/>
            <a:ext cx="7240899" cy="361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0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109" y="1094510"/>
            <a:ext cx="10390909" cy="501534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 : Calculate the percentage of orders that were paid in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instalments.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(COUNT(CASE WHEN payment_installments &gt; 1 THEN 1 END) / COUNT(*)) * 100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installment_percentage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FROM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payments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040" y="3449664"/>
            <a:ext cx="6315956" cy="239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3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236" y="1011383"/>
            <a:ext cx="9822873" cy="54448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Q5 : Count the number of customers from each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state.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customer_state, COUNT(customer_id) AS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customer_count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FROM customers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GROUP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customer_state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ORDER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customer_count DESC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  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12" y="3449782"/>
            <a:ext cx="6714269" cy="276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6" y="568036"/>
            <a:ext cx="11333017" cy="568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Sample the data for performance (geolocation is very large)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geo_sample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geolocation.sample(n=50000, random_state=42)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Density Map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plt.figure(figsize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=(8, 10))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plt.scatter(geo_sample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['geolocation_lng'], geo_sample['geolocation_lat'], s=1, alpha=0.2, color='#c0392b') plt.title('Customer Geographic Density Map', fontsize=14)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plt.xlabel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('Longitude', fontsize=12)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plt.ylabel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('Latitude', fontsize=12)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plt.show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237" y="2749600"/>
            <a:ext cx="7841672" cy="392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2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74220" y="231041"/>
            <a:ext cx="9404723" cy="7664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INTERMEDIATE PROBLEMS </a:t>
            </a:r>
            <a:endParaRPr lang="en-GB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37311" y="997524"/>
            <a:ext cx="10986654" cy="5735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GB" sz="26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GB" sz="2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2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 deeper into sales and order trends.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: Calculate the numbers of orders per month in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2018.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MONTHNAME(order_purchase_timestamp) AS month, COUNT(order_id) AS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order_count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FROM orders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WHERE YEAR(order_purchase_timestamp) = 2018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GROUP BY month</a:t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ORDER BY field(month, 'January', 'February', 'March', 'April', 'May', 'June', 'July', 'August', 'September', 'October', 'November', 'December');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 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517" y="4281055"/>
            <a:ext cx="6859338" cy="231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8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345" y="360218"/>
            <a:ext cx="11374581" cy="5888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Convert to datetime and filter for 2018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['order_purchase_timestamp'] = pd.to_datetime(orders['order_purchase_timestamp'])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orders_2018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orders[orders['order_purchase_timestamp'].dt.year == 2018].copy()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orders_2018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['month'] = orders_2018['order_purchase_timestamp'].dt.month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monthly_counts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orders_2018.groupby('month').size()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Line Graph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plt.figure(figsize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=(10, 5))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plt.plot(monthly_counts.index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monthly_counts.values, marker='o', linestyle='-', color='#27ae60', linewidth=2) plt.title('Monthly Order Trends (Year 2018)', fontsize=14)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plt.xlabel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('Month (1-12)', fontsize=12)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plt.ylabel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('Number of Orders', fontsize=12)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plt.xticks(range(1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13))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plt.grid(True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linestyle='--', alpha=0.6)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plt.show()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   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202" y="3304308"/>
            <a:ext cx="6182269" cy="328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09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678874"/>
            <a:ext cx="11305310" cy="5999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 : Find the average number of products per order, grouped by customer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city.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count_per_order AS (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SELECT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orders.customer_id, order_items.order_id, count(order_items.order_item_id)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item_count   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FROM orders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JOIN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 ON orders.order_id =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order_items.order_id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GROUP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orders.customer_id,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order_items.order_id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)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SELECT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c.customer_city, ROUND(AVG(cp.item_count), 2) AS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avg_items_per_order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FROM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JOIN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count_per_order cp ON c.customer_id =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cp.customer_id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GROUP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c.customer_city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45" y="4003963"/>
            <a:ext cx="6684819" cy="25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471055"/>
            <a:ext cx="11180618" cy="62622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: Calculate the percentage of total revenue contributed by each product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category.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p.product_category,    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ROUND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((SUM(oi.price) / (SELECT SUM(price) FROM order_items) * 100), 2) AS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sales_percentage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FROM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oi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JOIN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p ON oi.product_id =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p.product_id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GROUP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p.product_category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ORDER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sales_percentage DESC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 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1" y="3716752"/>
            <a:ext cx="6802582" cy="279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20" y="387927"/>
            <a:ext cx="11513125" cy="633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 : Identify the correlation between product price and the number of times a product has been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purchased.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Calculate stats per product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prod_stats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order_items.groupby('product_id').agg(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avg_price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=('price', 'mean'),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purchase_count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=('order_id', 'count')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)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Create Scatter Plot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plt.figure(figsize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=(10, 6))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plt.scatter(prod_stats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['avg_price'], prod_stats['purchase_count'], alpha=0.4, color='#e67e22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plt.title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('Correlation: Product Price vs. Purchase Frequency', fontsize=14)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plt.xlabel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('Average Price ($)', fontsize=12)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plt.ylabel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('Frequency (Sales Count)', fontsize=12)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plt.show()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5" y="3352800"/>
            <a:ext cx="5638802" cy="322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6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674" y="678873"/>
            <a:ext cx="9587344" cy="577734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Q5 : Calculate the total revenue generated by each seller, and rank them by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revenue.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seller_id,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SUM(price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revenue,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RANK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OVER (ORDER BY SUM(price) DESC) AS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seller_rank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FROM order_items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GROUP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seller_id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788" y="3567546"/>
            <a:ext cx="6747176" cy="288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3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74220" y="106349"/>
            <a:ext cx="9404723" cy="7664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PROBLEMS </a:t>
            </a:r>
            <a:endParaRPr lang="en-GB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23457" y="872830"/>
            <a:ext cx="10834252" cy="52508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GB" sz="28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GB" sz="2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strategic and customer-centric 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insights.</a:t>
            </a:r>
            <a:endParaRPr lang="en-GB" sz="2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: Calculate the moving average of order values for each customer over their order history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customer_id,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order_purchase_timestamp,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payment_value,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AVG(payment_value) OVER (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PARTITION BY customer_id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ORDER BY order_purchase_timestamp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ROWS BETWEEN 2 PRECEDING AND CURRENT ROW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) AS moving_avg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FROM (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SELECT o.customer_id, o.order_purchase_timestamp, p.payment_value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FROM orders o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JOIN payments p ON o.order_id = p.order_id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) AS subquery;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 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626" y="4738255"/>
            <a:ext cx="5668166" cy="194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7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309" y="471054"/>
            <a:ext cx="10681853" cy="59990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 : Calculate the cumulative sales per month for each year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year, month, monthly_sales,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SUM(monthly_sales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OVER (PARTITION BY year ORDER BY month) AS cumulative_sales</a:t>
            </a:r>
          </a:p>
          <a:p>
            <a:pPr marL="0" indent="0"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FROM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SELECT 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YEAR(o.order_purchase_timestamp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year,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MONTH(o.order_purchase_timestamp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month,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SUM(p.payment_value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monthly_sales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FROM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o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JOIN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payments p ON o.order_id = p.order_id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GROUP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year, month</a:t>
            </a:r>
          </a:p>
          <a:p>
            <a:pPr marL="0" indent="0"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)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t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b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 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11" y="3796146"/>
            <a:ext cx="5125653" cy="284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33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345" y="415637"/>
            <a:ext cx="11374581" cy="6151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: Calculate the year-over-year growth rate of total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sales.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yearly_sales AS (</a:t>
            </a:r>
          </a:p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SELECT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YEAR(o.order_purchase_timestamp) AS year, SUM(p.payment_value) AS revenue</a:t>
            </a:r>
          </a:p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FROM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o</a:t>
            </a:r>
          </a:p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JOIN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payments p ON o.order_id = p.order_id</a:t>
            </a:r>
          </a:p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GROUP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)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SELECT 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year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revenue,</a:t>
            </a:r>
          </a:p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LAG(revenue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OVER (ORDER BY year) AS prev_year_revenue,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((revenue - LAG(revenue) OVER (ORDER BY year)) / LAG(revenue) OVER (ORDER BY year)) * 100 AS 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yoy_growth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FROM yearly_sales;</a:t>
            </a:r>
            <a:b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4890654"/>
            <a:ext cx="5245994" cy="167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8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27" y="1205345"/>
            <a:ext cx="11111346" cy="51875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 : 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retention rate of customers, defined as the percentage of customers who make another purchase within 6 months of their first </a:t>
            </a:r>
            <a:r>
              <a:rPr lang="en-GB" sz="19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purchase.</a:t>
            </a:r>
            <a:endParaRPr lang="en-GB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first_purchase AS (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SELECT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customer_unique_id, MIN(order_purchase_timestamp) AS first_order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orders o JOIN customers c ON o.customer_id = c.customer_id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 customer_unique_id</a:t>
            </a:r>
          </a:p>
          <a:p>
            <a:pPr marL="0" indent="0"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),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retention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(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SELECT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f.customer_unique_id, 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COUNT(o.order_id) AS second_purchase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FROM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first_purchase f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 JOIN customers c ON f.customer_unique_id = c.customer_unique_id</a:t>
            </a:r>
          </a:p>
          <a:p>
            <a:pPr marL="0" indent="0"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LEFT JOIN orders o ON c.customer_id = o.customer_id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64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094509"/>
            <a:ext cx="11305308" cy="505690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WHERE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o.order_purchase_timestamp &gt; f.first_order </a:t>
            </a: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AND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o.order_purchase_timestamp &lt;= DATE_ADD(f.first_order, INTERVAL 6 MONTH)</a:t>
            </a: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GROUP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f.customer_unique_id</a:t>
            </a:r>
          </a:p>
          <a:p>
            <a:pPr marL="0" indent="0">
              <a:buNone/>
            </a:pP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)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SELECT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(COUNT(CASE WHEN second_purchase &gt; 0 THEN 1 END) / COUNT(*)) * 100 AS retention_rate</a:t>
            </a:r>
          </a:p>
          <a:p>
            <a:pPr marL="0" indent="0">
              <a:buNone/>
            </a:pP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FROM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retention</a:t>
            </a: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</a:t>
            </a:r>
            <a:endParaRPr lang="en-GB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094" y="3941618"/>
            <a:ext cx="5601482" cy="165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5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164" y="263236"/>
            <a:ext cx="11139054" cy="6442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Q5 : 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top 3 customers who spent the most money in each year.</a:t>
            </a:r>
          </a:p>
          <a:p>
            <a:pPr marL="0" indent="0">
              <a:buNone/>
            </a:pP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: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year, customer_unique_id, total_spent, spender_rank</a:t>
            </a:r>
          </a:p>
          <a:p>
            <a:pPr marL="0" indent="0"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FROM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SELECT 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YEAR(o.order_purchase_timestamp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year,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c.customer_unique_id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SUM(p.payment_value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total_spent,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DENSE_RANK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OVER (PARTITION BY YEAR(o.order_purchase_timestamp) ORDER BY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SUM(p.payment_value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DESC) AS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spender_rank 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FROM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o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JOIN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c ON o.customer_id = c.customer_id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JOIN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payments p ON o.order_id = p.order_id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GROUP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year, c.customer_unique_id</a:t>
            </a:r>
          </a:p>
          <a:p>
            <a:pPr marL="0" indent="0"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)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ranked_table</a:t>
            </a:r>
          </a:p>
          <a:p>
            <a:pPr marL="0" indent="0">
              <a:buNone/>
            </a:pP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WHERE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spender_rank &lt;= 3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: 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923" y="4516582"/>
            <a:ext cx="5521822" cy="218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7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0E5580"/>
    </a:dk2>
    <a:lt2>
      <a:srgbClr val="EBEBEB"/>
    </a:lt2>
    <a:accent1>
      <a:srgbClr val="ACD433"/>
    </a:accent1>
    <a:accent2>
      <a:srgbClr val="E6C133"/>
    </a:accent2>
    <a:accent3>
      <a:srgbClr val="EF7A24"/>
    </a:accent3>
    <a:accent4>
      <a:srgbClr val="5AA0F5"/>
    </a:accent4>
    <a:accent5>
      <a:srgbClr val="75CEEC"/>
    </a:accent5>
    <a:accent6>
      <a:srgbClr val="65D6A0"/>
    </a:accent6>
    <a:hlink>
      <a:srgbClr val="C4E46E"/>
    </a:hlink>
    <a:folHlink>
      <a:srgbClr val="BDE0F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565</Words>
  <Application>Microsoft Office PowerPoint</Application>
  <PresentationFormat>Widescreen</PresentationFormat>
  <Paragraphs>81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Wingdings</vt:lpstr>
      <vt:lpstr>Wingdings 3</vt:lpstr>
      <vt:lpstr>Ion</vt:lpstr>
      <vt:lpstr>BASIC PROBLEMS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84</cp:revision>
  <dcterms:created xsi:type="dcterms:W3CDTF">2026-03-07T13:04:02Z</dcterms:created>
  <dcterms:modified xsi:type="dcterms:W3CDTF">2026-03-11T16:04:17Z</dcterms:modified>
</cp:coreProperties>
</file>